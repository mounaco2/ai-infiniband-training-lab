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AI  ·  MODULE A7 EXTENSION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toy fabric to training-grade fabric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632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3-spine, 9-leaf, 15-host fat-tree topology for OpenSM training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572000"/>
            <a:ext cx="2926080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5029200"/>
            <a:ext cx="5486400" cy="256032"/>
          </a:xfrm>
          <a:prstGeom prst="roundRect">
            <a:avLst>
              <a:gd name="adj" fmla="val 1785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5486400"/>
            <a:ext cx="8412480" cy="256032"/>
          </a:xfrm>
          <a:prstGeom prst="roundRect">
            <a:avLst>
              <a:gd name="adj" fmla="val 17857"/>
            </a:avLst>
          </a:prstGeom>
          <a:solidFill>
            <a:srgbClr val="0F3A57"/>
          </a:solidFill>
          <a:ln w="12700">
            <a:solidFill>
              <a:srgbClr val="0F3A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58704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  ·  Leaf  ·  Host — proportional tiers of a non-blocking Clos fabric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real ibsim + OpenSM 3.3.23  ·  PA-ALT-N11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current lab proves the mechanism, not the discipline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 (Module A7)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86400" cy="1737360"/>
          </a:xfrm>
          <a:prstGeom prst="roundRect">
            <a:avLst>
              <a:gd name="adj" fmla="val 3158"/>
            </a:avLst>
          </a:prstGeom>
          <a:solidFill>
            <a:srgbClr val="12182E"/>
          </a:solidFill>
          <a:ln w="12700">
            <a:solidFill>
              <a:srgbClr val="1218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157984"/>
            <a:ext cx="5084064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OpenSM (MASTER)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LD_PRELOAD (libumad2sim.so)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ibsim  --  Switch1 (LID 2, 8 ports)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|-- port 1 -- Hca1 (LID 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|-- port 4 -- Hca2 (LID 3)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4160520"/>
            <a:ext cx="50292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switch, 2 hosts, 1 path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sminfo, ibstat, ibnetdiscover all confirmed working end to end against real OpenSM output.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can't teach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2057400"/>
            <a:ext cx="5212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0D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2194560"/>
            <a:ext cx="182880" cy="182880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0" y="2057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switches or tiers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624328"/>
            <a:ext cx="5212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0D9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2761488"/>
            <a:ext cx="182880" cy="182880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0" y="262432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Fat-tree / Clos routing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3191256"/>
            <a:ext cx="5212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0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3328416"/>
            <a:ext cx="182880" cy="182880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0" y="319125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diversity, failover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3758184"/>
            <a:ext cx="5212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0D9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3895344"/>
            <a:ext cx="182880" cy="182880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375818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 fabrics (P_Keys)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4325112"/>
            <a:ext cx="5212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0D9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37960" y="4462272"/>
            <a:ext cx="182880" cy="182880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0" y="432511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redundancy and handover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4892040"/>
            <a:ext cx="5212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0D9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37960" y="5029200"/>
            <a:ext cx="182880" cy="182880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0" y="48920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Congestion, oversubscription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A7 (baseline) — 3-node topology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fat-tree is the industry-standard AI/HPC fabric shape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577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fat-tree (a Clos-derived topology) is the design pattern behind essentially every large InfiniBand and RoCEv2 AI cluster in production. </a:t>
            </a:r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are organized into tiers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spine at the top, leaf below it, hosts at the bottom — with every leaf connected to every spine.</a:t>
            </a:r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non-blocking, multi-path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connectivity: any host can reach any other host, and if one spine fails, the Subnet Manager reroutes across the survivors — the exact failure-recovery behavior Exercise 4 puts to the test.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0" y="18288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41080" y="182880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41080" y="18288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 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515600" y="182880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0" y="18288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 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29400" y="320040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9400" y="32004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69480" y="2331720"/>
            <a:ext cx="205740" cy="868680"/>
          </a:xfrm>
          <a:prstGeom prst="line">
            <a:avLst/>
          </a:prstGeom>
          <a:noFill/>
          <a:ln w="9525">
            <a:solidFill>
              <a:srgbClr val="B9C6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69480" y="2331720"/>
            <a:ext cx="2080260" cy="868680"/>
          </a:xfrm>
          <a:prstGeom prst="line">
            <a:avLst/>
          </a:prstGeom>
          <a:noFill/>
          <a:ln w="9525">
            <a:solidFill>
              <a:srgbClr val="B9C6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69480" y="2331720"/>
            <a:ext cx="3954780" cy="868680"/>
          </a:xfrm>
          <a:prstGeom prst="line">
            <a:avLst/>
          </a:prstGeom>
          <a:noFill/>
          <a:ln w="9525">
            <a:solidFill>
              <a:srgbClr val="B9C6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58200" y="320040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58200" y="32004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98280" y="2331720"/>
            <a:ext cx="-1623060" cy="868680"/>
          </a:xfrm>
          <a:prstGeom prst="line">
            <a:avLst/>
          </a:prstGeom>
          <a:noFill/>
          <a:ln w="9525">
            <a:solidFill>
              <a:srgbClr val="B9C6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98280" y="2331720"/>
            <a:ext cx="251460" cy="868680"/>
          </a:xfrm>
          <a:prstGeom prst="line">
            <a:avLst/>
          </a:prstGeom>
          <a:noFill/>
          <a:ln w="9525">
            <a:solidFill>
              <a:srgbClr val="B9C6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2331720"/>
            <a:ext cx="2125980" cy="868680"/>
          </a:xfrm>
          <a:prstGeom prst="line">
            <a:avLst/>
          </a:prstGeom>
          <a:noFill/>
          <a:ln w="9525">
            <a:solidFill>
              <a:srgbClr val="B9C6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87000" y="320040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287000" y="32004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927080" y="2331720"/>
            <a:ext cx="-3451860" cy="868680"/>
          </a:xfrm>
          <a:prstGeom prst="line">
            <a:avLst/>
          </a:prstGeom>
          <a:noFill/>
          <a:ln w="9525">
            <a:solidFill>
              <a:srgbClr val="B9C6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27080" y="2331720"/>
            <a:ext cx="-1577340" cy="868680"/>
          </a:xfrm>
          <a:prstGeom prst="line">
            <a:avLst/>
          </a:prstGeom>
          <a:noFill/>
          <a:ln w="9525">
            <a:solidFill>
              <a:srgbClr val="B9C6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27080" y="2331720"/>
            <a:ext cx="297180" cy="868680"/>
          </a:xfrm>
          <a:prstGeom prst="line">
            <a:avLst/>
          </a:prstGeom>
          <a:noFill/>
          <a:ln w="9525">
            <a:solidFill>
              <a:srgbClr val="B9C6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29400" y="4663440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E6F1FB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4663440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912864" y="3657600"/>
            <a:ext cx="0" cy="1005840"/>
          </a:xfrm>
          <a:prstGeom prst="line">
            <a:avLst/>
          </a:prstGeom>
          <a:noFill/>
          <a:ln w="9525">
            <a:solidFill>
              <a:srgbClr val="B9C6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4663440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E6F1FB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0" y="4663440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Hca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598664" y="3657600"/>
            <a:ext cx="0" cy="1005840"/>
          </a:xfrm>
          <a:prstGeom prst="line">
            <a:avLst/>
          </a:prstGeom>
          <a:noFill/>
          <a:ln w="9525">
            <a:solidFill>
              <a:srgbClr val="B9C6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58200" y="4663440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E6F1FB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58200" y="4663440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Hca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741664" y="3657600"/>
            <a:ext cx="0" cy="1005840"/>
          </a:xfrm>
          <a:prstGeom prst="line">
            <a:avLst/>
          </a:prstGeom>
          <a:noFill/>
          <a:ln w="9525">
            <a:solidFill>
              <a:srgbClr val="B9C6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4000" y="4663440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E6F1FB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44000" y="4663440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Hca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9427464" y="3657600"/>
            <a:ext cx="0" cy="1005840"/>
          </a:xfrm>
          <a:prstGeom prst="line">
            <a:avLst/>
          </a:prstGeom>
          <a:noFill/>
          <a:ln w="9525">
            <a:solidFill>
              <a:srgbClr val="B9C6D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287000" y="4663440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E6F1FB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287000" y="4663440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Hca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0570464" y="3657600"/>
            <a:ext cx="0" cy="1005840"/>
          </a:xfrm>
          <a:prstGeom prst="line">
            <a:avLst/>
          </a:prstGeom>
          <a:noFill/>
          <a:ln w="9525">
            <a:solidFill>
              <a:srgbClr val="B9C6D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972800" y="4663440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E6F1FB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972800" y="4663440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Hca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1256264" y="3657600"/>
            <a:ext cx="0" cy="1005840"/>
          </a:xfrm>
          <a:prstGeom prst="line">
            <a:avLst/>
          </a:prstGeom>
          <a:noFill/>
          <a:ln w="9525">
            <a:solidFill>
              <a:srgbClr val="B9C6D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92240" y="5257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leaf uplinks to every spine — the full pattern (9 leaves, 15 hosts) follows the same rule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— Clos / fat-tree architecture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spines · 9 leaves · 15 hosts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fat-tree, 3:1 oversubscription at the spine layer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1B2860"/>
          </a:solidFill>
          <a:ln w="12700">
            <a:solidFill>
              <a:srgbClr val="3440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423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375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 switches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 4-6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228600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1B2860"/>
          </a:solidFill>
          <a:ln w="12700">
            <a:solidFill>
              <a:srgbClr val="3440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2423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33375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switches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 7-15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28600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1B2860"/>
          </a:solidFill>
          <a:ln w="12700">
            <a:solidFill>
              <a:srgbClr val="3440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2423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3375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(HCAs)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 16-30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52560" y="228600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1B2860"/>
          </a:solidFill>
          <a:ln w="12700">
            <a:solidFill>
              <a:srgbClr val="34407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52560" y="2423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0" y="33375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nodes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topology file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12182E"/>
          </a:solidFill>
          <a:ln w="12700">
            <a:solidFill>
              <a:srgbClr val="1218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5038344"/>
            <a:ext cx="508406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S&lt;n&gt;  = Spine switch      (S1..S3)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L&lt;n&gt;  = Leaf switch       (L1..L9)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H&lt;n&gt;  = Host / HCA        (H1..H15)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4892040"/>
            <a:ext cx="5303520" cy="1188720"/>
          </a:xfrm>
          <a:prstGeom prst="roundRect">
            <a:avLst>
              <a:gd name="adj" fmla="val 4615"/>
            </a:avLst>
          </a:prstGeom>
          <a:solidFill>
            <a:srgbClr val="12182E"/>
          </a:solidFill>
          <a:ln w="12700">
            <a:solidFill>
              <a:srgbClr val="1218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10528" y="5038344"/>
            <a:ext cx="490118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~/ibsim-lab/fat-tree.net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net-file grammar as mytopo.net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(Switch / Hca blocks, port lines)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Topology file — spine and leaf excerpt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file: ~/ibsim-lab/fat-tree.net (27 node blocks). Same syntax you already tested in mytopo.net.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7315200" cy="4114800"/>
          </a:xfrm>
          <a:prstGeom prst="roundRect">
            <a:avLst>
              <a:gd name="adj" fmla="val 1333"/>
            </a:avLst>
          </a:prstGeom>
          <a:solidFill>
            <a:srgbClr val="12182E"/>
          </a:solidFill>
          <a:ln w="12700">
            <a:solidFill>
              <a:srgbClr val="1218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066544"/>
            <a:ext cx="6912864" cy="3822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  8 "S1"      # Spine-1, LID 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  "L1"[1]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  "L2"[1]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   "L3"[1]   ...  [8]   "L8"[1]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  8 "L1"      # Leaf-1, LID 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  "S1"[1]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  "S2"[1]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   "S3"[1]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   "H1"[1]   ...  [8]   "H5"[1]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Hca   2 "H1"          # Host-1, LID 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  "L1"[4]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38160" y="19202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66760" y="2103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366760" y="246888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Switch/Hca block declares its own ports.
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lines are symmetric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S1 port 1 to L1 port 1 must be echoed by L1 port 1 to S1 port 1.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LIDs shown are the </a:t>
            </a:r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pattern — OpenSM assigns the real ones on discovery, same as it did for mytopo.net.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— fat-tree.net excerpt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sessions, roughly four and a half hours total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572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691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0" y="1691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58568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2585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214884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fat-tree, observe discovery, ibnetdiscover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0" y="214884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715768"/>
            <a:ext cx="11064240" cy="566928"/>
          </a:xfrm>
          <a:prstGeom prst="rect">
            <a:avLst/>
          </a:prstGeom>
          <a:solidFill>
            <a:srgbClr val="EEF2F6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825496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8254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011680" y="2715768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ibroute inspection — understand computed paths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0" y="271576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282696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392424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3924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3282696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Multi-SM failover (priority, handover)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0" y="328269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849624"/>
            <a:ext cx="11064240" cy="566928"/>
          </a:xfrm>
          <a:prstGeom prst="rect">
            <a:avLst/>
          </a:prstGeom>
          <a:solidFill>
            <a:srgbClr val="EEF2F6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3959352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9593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011680" y="3849624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 with P_Keys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0" y="384962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416552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4526280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4526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2011680" y="4416552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scenarios — remove a spine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0" y="4416552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4983480"/>
            <a:ext cx="11064240" cy="566928"/>
          </a:xfrm>
          <a:prstGeom prst="rect">
            <a:avLst/>
          </a:prstGeom>
          <a:solidFill>
            <a:srgbClr val="EEF2F6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" y="5093208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50932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2011680" y="498348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LMC and multi-pathing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0058400" y="498348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8640" y="5550408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" y="5660136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5800" y="56601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2011680" y="5550408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— conceptual, tie back to Workbook AI A2-A5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0058400" y="555040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— recommended progression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 fat-tree routing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OpenSM against the new topology and watch it discover 27 nodes instead of 3.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858000" cy="2011680"/>
          </a:xfrm>
          <a:prstGeom prst="roundRect">
            <a:avLst>
              <a:gd name="adj" fmla="val 2727"/>
            </a:avLst>
          </a:prstGeom>
          <a:solidFill>
            <a:srgbClr val="12182E"/>
          </a:solidFill>
          <a:ln w="12700">
            <a:solidFill>
              <a:srgbClr val="1218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020824"/>
            <a:ext cx="645566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~/ibsim-lab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ibsim -r -l 12345 -s ./fat-tree.net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terminal 2 — SIM_HOST must match a real node in fat-tree.net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SIM_HOST="H1"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LD_PRELOAD=.../libumad2sim.so opensm -g 0 -f ./osm.log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14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43400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HCA does OpenSM pick as SM master?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hops between H1 and H15?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path does OpenSM choose? (check osm.log)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80960" y="187452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TESTED HERE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33172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shape matches A7's proven pattern, but this specific topology and SIM_HOST value have not been run in this lab yet.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of 7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inspection with ibroute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 the real computed routing table and inspect the path between two specific hosts.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858000" cy="2011680"/>
          </a:xfrm>
          <a:prstGeom prst="roundRect">
            <a:avLst>
              <a:gd name="adj" fmla="val 2727"/>
            </a:avLst>
          </a:prstGeom>
          <a:solidFill>
            <a:srgbClr val="12182E"/>
          </a:solidFill>
          <a:ln w="12700">
            <a:solidFill>
              <a:srgbClr val="1218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020824"/>
            <a:ext cx="645566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LD_PRELOAD=... SIM_HOST=H1 ... ibroute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path to H15 (LID 30)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LD_PRELOAD=... SIM_HOST=H1 ... ibroute -D 30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LD_PRELOAD=... SIM_HOST=H1 ... ibnetdiscover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14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43400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printed path match your prediction from the diagram?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route symmetric in both directions?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80960" y="187452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TESTED HERE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33172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ibroute is a real infiniband-diags tool (same package as ibnetdiscover), but this exact invocation is unverified in this lab.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of 7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Partitioning with P_Keys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P_Keys are InfiniBand's VLAN equivalent — isolating groups of hosts at the fabric level.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858000" cy="1554480"/>
          </a:xfrm>
          <a:prstGeom prst="roundRect">
            <a:avLst>
              <a:gd name="adj" fmla="val 3529"/>
            </a:avLst>
          </a:prstGeom>
          <a:solidFill>
            <a:srgbClr val="12182E"/>
          </a:solidFill>
          <a:ln w="12700">
            <a:solidFill>
              <a:srgbClr val="1218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020824"/>
            <a:ext cx="645566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/etc/opensm/partitions.conf (real, confirmed path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from this lab's own opensm --create-config dump)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Partition "AI-Training" pkey=0x8001 : H1,H2,...,H10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Partition "Management"  pkey=0x8002 : H11,...,H15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57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8620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H1 tries to reach H11?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failure silent or does the fabric report it explicitly?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80960" y="187452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TESTED HERE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3317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partition_config_file is a real, confirmed OpenSM setting (seen in this lab's own dumped config). The exact syntax above is illustrative — verify against the real file format before use.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 of 7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domain analysis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out Spine-2 entirely and redeploy — a controlled failure, not a crash.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858000" cy="1554480"/>
          </a:xfrm>
          <a:prstGeom prst="roundRect">
            <a:avLst>
              <a:gd name="adj" fmla="val 3529"/>
            </a:avLst>
          </a:prstGeom>
          <a:solidFill>
            <a:srgbClr val="12182E"/>
          </a:solidFill>
          <a:ln w="12700">
            <a:solidFill>
              <a:srgbClr val="1218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020824"/>
            <a:ext cx="645566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edit fat-tree.net: remove the S2 block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and every [n] "S2"[m] reference in the leaves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ibsim -r -l 12345 -s ./fat-tree.net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restart OpenSM the same way as Exercise 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57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8620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fabric still work with 2 of 3 spines?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HCAs, if any, lose connectivity?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OpenSM reconverge on its own, or does it need a nudge?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80960" y="187452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TESTED HERE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3317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exercises the same route-recompute logic already proven working in A7.8 (minhop tables configured on all switches) — mechanism is proven, this specific scenario is not yet run.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4 of 7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Multi-subnet — SM redundancy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two OpenSM instances at different priorities and force a handover.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858000" cy="2011680"/>
          </a:xfrm>
          <a:prstGeom prst="roundRect">
            <a:avLst>
              <a:gd name="adj" fmla="val 2727"/>
            </a:avLst>
          </a:prstGeom>
          <a:solidFill>
            <a:srgbClr val="12182E"/>
          </a:solidFill>
          <a:ln w="12700">
            <a:solidFill>
              <a:srgbClr val="1218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020824"/>
            <a:ext cx="645566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terminal 2 — primary, priority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LD_PRELOAD=... opensm -g 0 -f ./osm.log -p 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terminal 3 — secondary, priority 1, different host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SIM_HOST="H2"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LD_PRELOAD=... opensm -g 0 -f ./osm2.log -p 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14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43400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instance becomes MASTER?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the moment the master is stopped?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does failover actually take?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80960" y="187452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EAF3D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IN THIS LAB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33172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--priority / -p is a real, confirmed flag — read directly from this lab's own captured opensm --help output on day one. Running two instances together is untested.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5 of 7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LMC — multi-path LIDs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 Mask Control lets one physical port hold multiple LIDs, enabling several paths per host.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858000" cy="1554480"/>
          </a:xfrm>
          <a:prstGeom prst="roundRect">
            <a:avLst>
              <a:gd name="adj" fmla="val 3529"/>
            </a:avLst>
          </a:prstGeom>
          <a:solidFill>
            <a:srgbClr val="12182E"/>
          </a:solidFill>
          <a:ln w="12700">
            <a:solidFill>
              <a:srgbClr val="1218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020824"/>
            <a:ext cx="645566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fat-tree.net: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8 "S1" lmc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8 "S2" lmc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8 "S3" lmc 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57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8620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LID assignment change once lmc is set?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ibroute now show multiple valid paths per host pair?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80960" y="187452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TESTED HERE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3317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ibsim's topology parser accepts an inline "lmc" field on the Switch header line is UNCONFIRMED — this lab has already seen ibsim reject unexpected line syntax ("cannot parse remote lid and connection type", A7.7). Test the parse before trusting the exercise.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6 of 7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Congestion — conceptual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to 2 spines under the same host count to model 3:1 oversubscription, without moving real data.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858000" cy="1554480"/>
          </a:xfrm>
          <a:prstGeom prst="roundRect">
            <a:avLst>
              <a:gd name="adj" fmla="val 3529"/>
            </a:avLst>
          </a:prstGeom>
          <a:solidFill>
            <a:srgbClr val="12182E"/>
          </a:solidFill>
          <a:ln w="12700">
            <a:solidFill>
              <a:srgbClr val="1218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020824"/>
            <a:ext cx="645566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thought experiment / topology edit only 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new tool, reasoning exercise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ties directly back to Workbook AI Module A2-A5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(PFC, ECN, DCQCN) — same fabric, real dataplane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57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8620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2-spine oversubscription change bisection bandwidth?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host pairs are affected first?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PFC/ECN behave here, per Workbook AI Module A2-A5?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80960" y="187452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EAF3D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IN THIS LAB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3317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exercise is explicitly conceptual, same tier as Module A4's DCQCN discussion — no dataplane test is claimed or possible with ibsim.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7 of 7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exercise actually teaches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20624"/>
          </a:xfrm>
          <a:prstGeom prst="roundRect">
            <a:avLst>
              <a:gd name="adj" fmla="val 8696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600200"/>
            <a:ext cx="5669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DEMONSTRATED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332720" y="1600200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020824"/>
            <a:ext cx="11064240" cy="475488"/>
          </a:xfrm>
          <a:prstGeom prst="rect">
            <a:avLst/>
          </a:prstGeom>
          <a:solidFill>
            <a:srgbClr val="F7F9FB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02082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Fat-tree architecture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020824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spines, 9 leaves — non-blocking Clos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332720" y="202082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496312"/>
            <a:ext cx="11064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49631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 assignment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496312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pattern across 27+ nodes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332720" y="249631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11064240" cy="475488"/>
          </a:xfrm>
          <a:prstGeom prst="rect">
            <a:avLst/>
          </a:prstGeom>
          <a:solidFill>
            <a:srgbClr val="F7F9FB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97180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OpenSM routing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2971800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computed tables via ibroute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332720" y="297180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447288"/>
            <a:ext cx="11064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44728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diversity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3447288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valid paths, host to host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332720" y="3447288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2, 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922776"/>
            <a:ext cx="11064240" cy="475488"/>
          </a:xfrm>
          <a:prstGeom prst="rect">
            <a:avLst/>
          </a:prstGeom>
          <a:solidFill>
            <a:srgbClr val="F7F9FB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392277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recovery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3922776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spine, watch reconvergence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332720" y="3922776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398264"/>
            <a:ext cx="11064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439826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redundancy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0" y="4398264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Priority-based master handover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332720" y="439826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873752"/>
            <a:ext cx="11064240" cy="475488"/>
          </a:xfrm>
          <a:prstGeom prst="rect">
            <a:avLst/>
          </a:prstGeom>
          <a:solidFill>
            <a:srgbClr val="F7F9FB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487375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0" y="4873752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P_Key isolation between groups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332720" y="487375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3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5349240"/>
            <a:ext cx="11064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" y="534924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LMC / multi-path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0" y="5349240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port, multiple LIDs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332720" y="534924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6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5824728"/>
            <a:ext cx="11064240" cy="475488"/>
          </a:xfrm>
          <a:prstGeom prst="rect">
            <a:avLst/>
          </a:prstGeom>
          <a:solidFill>
            <a:srgbClr val="F7F9FB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7240" y="582472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reasoning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0" y="5824728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Oversubscription, tie to PFC/ECN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332720" y="5824728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7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map — concept to exercise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YOU RUN ANYTHING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fact vs. proposed exercise — know the difference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evidence discipline as the rest of this workbook: nothing here is trusted until it's actually been run and checked.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7E0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984248"/>
            <a:ext cx="310896" cy="31089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984248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874520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ibsim -r -l &lt;port&gt; -s &lt;file&gt;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1874520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working (A7.7-A7.9) — same syntax, new topology file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55164"/>
            <a:ext cx="110642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7E0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564892"/>
            <a:ext cx="310896" cy="31089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564892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455164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opensm -g &lt;hex&gt; -f log -B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2455164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working with a real GUID — daemon mode included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035808"/>
            <a:ext cx="110642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7E0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145536"/>
            <a:ext cx="310896" cy="31089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145536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035808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--priority / -p &lt;n&gt;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3035808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real flag, read from this lab's own opensm --help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616452"/>
            <a:ext cx="110642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7E0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726180"/>
            <a:ext cx="310896" cy="31089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72618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3616452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sminfo / ibstat / ibnetdiscover with the LD_PRELOAD wrapper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0" y="3616452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working end to end, today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197096"/>
            <a:ext cx="110642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F3D8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4306824"/>
            <a:ext cx="310896" cy="31089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" y="4306824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4197096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"-v 2" verbosity flag (as pasted in the source material)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4197096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CONTRADICTS this lab's own captured --help output — no lowercase -v exists. Use -V or -D &lt;level&gt; instead.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777740"/>
            <a:ext cx="110642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F3D8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" y="4887468"/>
            <a:ext cx="310896" cy="31089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" y="4887468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43000" y="4777740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ibroute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0" y="4777740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infiniband-diags tool, but not yet run in this lab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358384"/>
            <a:ext cx="110642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F3D8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" y="5468112"/>
            <a:ext cx="310896" cy="31089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4360" y="5468112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43000" y="5358384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Inline "lmc 1" on a Switch header line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5486400" y="5358384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Unconfirmed whether ibsim's parser accepts this field at all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5939028"/>
            <a:ext cx="110642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F3D8A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5800" y="6048756"/>
            <a:ext cx="310896" cy="31089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94360" y="6048756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43000" y="5939028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simultaneous OpenSM instances (Exercise 5)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0" y="5939028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is plausible; multi-instance coordination is untested here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pedagogical ceiling to realistic fabric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457200"/>
          </a:xfrm>
          <a:prstGeom prst="roundRect">
            <a:avLst>
              <a:gd name="adj" fmla="val 8000"/>
            </a:avLst>
          </a:prstGeom>
          <a:solidFill>
            <a:srgbClr val="1B2860"/>
          </a:solidFill>
          <a:ln w="12700">
            <a:solidFill>
              <a:srgbClr val="1B286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920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(A7)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1920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E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FAT-TREE (THIS DECK)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064240" cy="566928"/>
          </a:xfrm>
          <a:prstGeom prst="rect">
            <a:avLst/>
          </a:prstGeom>
          <a:solidFill>
            <a:srgbClr val="1B2860"/>
          </a:solidFill>
          <a:ln w="6350">
            <a:solidFill>
              <a:srgbClr val="2B38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37744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37744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(1 switch, 2 HCAs)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237744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E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(3 spines, 9 leaves, 15 HCAs)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44368"/>
            <a:ext cx="11064240" cy="566928"/>
          </a:xfrm>
          <a:prstGeom prst="rect">
            <a:avLst/>
          </a:prstGeom>
          <a:solidFill>
            <a:srgbClr val="16214D"/>
          </a:solidFill>
          <a:ln w="6350">
            <a:solidFill>
              <a:srgbClr val="2B38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94436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 between hosts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294436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294436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E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Multiple, via ibroute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11296"/>
            <a:ext cx="11064240" cy="566928"/>
          </a:xfrm>
          <a:prstGeom prst="rect">
            <a:avLst/>
          </a:prstGeom>
          <a:solidFill>
            <a:srgbClr val="1B2860"/>
          </a:solidFill>
          <a:ln w="6350">
            <a:solidFill>
              <a:srgbClr val="2B387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511296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domains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351129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351129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E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 and leaf, independently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78224"/>
            <a:ext cx="11064240" cy="566928"/>
          </a:xfrm>
          <a:prstGeom prst="rect">
            <a:avLst/>
          </a:prstGeom>
          <a:solidFill>
            <a:srgbClr val="16214D"/>
          </a:solidFill>
          <a:ln w="6350">
            <a:solidFill>
              <a:srgbClr val="2B387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078224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407822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407822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E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P_Keys, real config path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645152"/>
            <a:ext cx="11064240" cy="566928"/>
          </a:xfrm>
          <a:prstGeom prst="rect">
            <a:avLst/>
          </a:prstGeom>
          <a:solidFill>
            <a:srgbClr val="1B2860"/>
          </a:solidFill>
          <a:ln w="6350">
            <a:solidFill>
              <a:srgbClr val="2B387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645152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redundancy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657600" y="464515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464515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E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+ handover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212080"/>
            <a:ext cx="11064240" cy="566928"/>
          </a:xfrm>
          <a:prstGeom prst="rect">
            <a:avLst/>
          </a:prstGeom>
          <a:solidFill>
            <a:srgbClr val="16214D"/>
          </a:solidFill>
          <a:ln w="6350">
            <a:solidFill>
              <a:srgbClr val="2B387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521208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complexity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3657600" y="521208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498080" y="521208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E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Realistic, Clos-based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20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action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fat-tree.net, run it once, verify the unverified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9875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fat-tree.net from Slide 5's pattern, all 27 blocks.
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Exercise 1 exactly as shown — confirm discovery before anything else.
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"-v 2" flag before you type it.
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every amber item on Slide 15 as a hypothesis, not a fact, until you've run it.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AI · Module A7 Extension · PA-ALT-N11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2026-09-03T16:19:58Z</dcterms:created>
  <dcterms:modified xsi:type="dcterms:W3CDTF">2026-09-03T16:19:58Z</dcterms:modified>
</cp:coreProperties>
</file>